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eda8dce52944d7" /><Relationship Type="http://schemas.openxmlformats.org/officeDocument/2006/relationships/extended-properties" Target="/docProps/app.xml" Id="R62bcc7bdf9724435" /><Relationship Type="http://schemas.openxmlformats.org/officeDocument/2006/relationships/officeDocument" Target="/ppt/presentation.xml" Id="R0e82c423065846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a42a9df5404311"/>
  </p:sldMasterIdLst>
  <p:notesMasterIdLst>
    <p:notesMasterId xmlns:r="http://schemas.openxmlformats.org/officeDocument/2006/relationships" r:id="Rfada3b35ea7a42fa"/>
  </p:notesMasterIdLst>
  <p:sldIdLst>
    <p:sldId xmlns:r="http://schemas.openxmlformats.org/officeDocument/2006/relationships" id="256" r:id="R57ff04355ceb4509"/>
    <p:sldId xmlns:r="http://schemas.openxmlformats.org/officeDocument/2006/relationships" id="257" r:id="R00b914f2a4da4c51"/>
    <p:sldId xmlns:r="http://schemas.openxmlformats.org/officeDocument/2006/relationships" id="258" r:id="R4eadad5be04b4155"/>
    <p:sldId xmlns:r="http://schemas.openxmlformats.org/officeDocument/2006/relationships" id="259" r:id="R23a68b1b50ff4de3"/>
    <p:sldId xmlns:r="http://schemas.openxmlformats.org/officeDocument/2006/relationships" id="260" r:id="Rfc01dae4fed341ed"/>
    <p:sldId xmlns:r="http://schemas.openxmlformats.org/officeDocument/2006/relationships" id="261" r:id="Rd2e685afa68f43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5c6884362c4e2d" /><Relationship Type="http://schemas.openxmlformats.org/officeDocument/2006/relationships/slideMaster" Target="/ppt/slideMasters/slideMaster1.xml" Id="R13a42a9df5404311" /><Relationship Type="http://schemas.openxmlformats.org/officeDocument/2006/relationships/notesMaster" Target="/ppt/notesMasters/notesMaster1.xml" Id="Rfada3b35ea7a42fa" /><Relationship Type="http://schemas.openxmlformats.org/officeDocument/2006/relationships/presProps" Target="/ppt/presProps.xml" Id="R7b1953f089304a89" /><Relationship Type="http://schemas.openxmlformats.org/officeDocument/2006/relationships/tableStyles" Target="/ppt/tableStyles.xml" Id="Rfb804dc18fac436e" /><Relationship Type="http://schemas.openxmlformats.org/officeDocument/2006/relationships/slide" Target="/ppt/slides/slide1.xml" Id="R57ff04355ceb4509" /><Relationship Type="http://schemas.openxmlformats.org/officeDocument/2006/relationships/slide" Target="/ppt/slides/slide2.xml" Id="R00b914f2a4da4c51" /><Relationship Type="http://schemas.openxmlformats.org/officeDocument/2006/relationships/slide" Target="/ppt/slides/slide3.xml" Id="R4eadad5be04b4155" /><Relationship Type="http://schemas.openxmlformats.org/officeDocument/2006/relationships/slide" Target="/ppt/slides/slide4.xml" Id="R23a68b1b50ff4de3" /><Relationship Type="http://schemas.openxmlformats.org/officeDocument/2006/relationships/slide" Target="/ppt/slides/slide5.xml" Id="Rfc01dae4fed341ed" /><Relationship Type="http://schemas.openxmlformats.org/officeDocument/2006/relationships/slide" Target="/ppt/slides/slide6.xml" Id="Rd2e685afa68f43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2fa1ccb02a41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84091a970c407d" /><Relationship Type="http://schemas.openxmlformats.org/officeDocument/2006/relationships/notesMaster" Target="/ppt/notesMasters/notesMaster1.xml" Id="Rf9c32cec003345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5fa23bea8846f6" /><Relationship Type="http://schemas.openxmlformats.org/officeDocument/2006/relationships/notesMaster" Target="/ppt/notesMasters/notesMaster1.xml" Id="Re59308d7b58b4a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ac65afd95647d5" /><Relationship Type="http://schemas.openxmlformats.org/officeDocument/2006/relationships/notesMaster" Target="/ppt/notesMasters/notesMaster1.xml" Id="R1a405284a8de44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87e61fbfc04a6a" /><Relationship Type="http://schemas.openxmlformats.org/officeDocument/2006/relationships/notesMaster" Target="/ppt/notesMasters/notesMaster1.xml" Id="R4495d1c895454c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a647b7ba054c3e" /><Relationship Type="http://schemas.openxmlformats.org/officeDocument/2006/relationships/notesMaster" Target="/ppt/notesMasters/notesMaster1.xml" Id="R90627f346e934e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7fbf2598b246cb" /><Relationship Type="http://schemas.openxmlformats.org/officeDocument/2006/relationships/notesMaster" Target="/ppt/notesMasters/notesMaster1.xml" Id="R1a9d7e031fc249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ecc71effe4c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b94b253624608" /><Relationship Type="http://schemas.openxmlformats.org/officeDocument/2006/relationships/slideLayout" Target="/ppt/slideLayouts/slideLayout1.xml" Id="R154ef50b86f846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4ef50b86f846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3735f7329467c" /><Relationship Type="http://schemas.openxmlformats.org/officeDocument/2006/relationships/notesSlide" Target="/ppt/notesSlides/notesSlide1.xml" Id="R0e562eb3db574a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83d7471364649" /><Relationship Type="http://schemas.openxmlformats.org/officeDocument/2006/relationships/notesSlide" Target="/ppt/notesSlides/notesSlide2.xml" Id="R206d4d7cc17c4c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cab07412842d5" /><Relationship Type="http://schemas.openxmlformats.org/officeDocument/2006/relationships/notesSlide" Target="/ppt/notesSlides/notesSlide3.xml" Id="Re87ac2f6a5c745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daba54a9849b4" /><Relationship Type="http://schemas.openxmlformats.org/officeDocument/2006/relationships/notesSlide" Target="/ppt/notesSlides/notesSlide4.xml" Id="R722a52a654d44a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76d97d63a4037" /><Relationship Type="http://schemas.openxmlformats.org/officeDocument/2006/relationships/notesSlide" Target="/ppt/notesSlides/notesSlide5.xml" Id="R026be4c638514c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43937599c4bfc" /><Relationship Type="http://schemas.openxmlformats.org/officeDocument/2006/relationships/notesSlide" Target="/ppt/notesSlides/notesSlide6.xml" Id="Rca5960bb931346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C4EAFB-E018-4B41-8E3F-DDA8C093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7D532-BD13-4C15-89C9-FA125D3A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020"/>
              </a:gs>
              <a:gs pos="50000">
                <a:srgbClr val="121A2D"/>
              </a:gs>
              <a:gs pos="100000">
                <a:srgbClr val="20170B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89B17-4D96-4959-97EA-81B620EE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028700"/>
            <a:ext cx="2957513" cy="2519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59E0B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29E71-01B5-4DD0-B208-AFD0C1B6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1028700"/>
            <a:ext cx="1095375" cy="854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59E0B">
                <a:alpha val="3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EF03B-E39C-48C8-AF0D-BB133B27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576388"/>
            <a:ext cx="547687" cy="5476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59E0B">
                <a:alpha val="33333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B315E-8444-439B-9F0A-E7F12E1A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168" y="1379220"/>
            <a:ext cx="372427" cy="43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4B332-FC5C-42CC-A7C3-9537CA79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185" y="1992630"/>
            <a:ext cx="854392" cy="854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59E0B">
                <a:alpha val="3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09A50-7DF7-498F-85F5-FE2C2C35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960" y="1401128"/>
            <a:ext cx="2168843" cy="21688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59E0B">
                <a:alpha val="3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8FE5B-9477-4212-AF20-8629F4DF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7E457-D64F-473C-AB6D-1D73A324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B51EF-E9E2-4FD5-8E5C-2664CC88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8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11A16-3746-458F-9508-0DCDBF91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81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8A1BF-DC5C-4B8F-ADE0-6F59518B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E521F-34DB-4354-A21D-AB92A4CC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352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24ADF-A3C1-4586-8E46-3BCA5D71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EDA2B-A5FF-42BF-BF44-0015A926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71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0C70D-F5BC-4F1C-9E80-E337FA23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2590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7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A9950-33A7-497E-A987-78B0B63C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9057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C7A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2C7A9"/>
                </a:solidFill>
                <a:latin typeface="PingFang SC"/>
                <a:ea typeface="PingFang SC"/>
                <a:cs typeface="PingFang SC"/>
              </a:rPr>
              <a:t>NBA DATA · FASTAPI · REACT ·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C3678-011E-410B-B746-7F7A19E2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Hoop Insight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779F3-F466-4585-9034-A56B3F79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0E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6F0E4"/>
                </a:solidFill>
                <a:latin typeface="PingFang SC"/>
                <a:ea typeface="PingFang SC"/>
                <a:cs typeface="PingFang SC"/>
              </a:rPr>
              <a:t>NBA 篮球数据分析与智能问数系统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75D8D-88FA-49F0-BF0D-9E84105D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从 NBA 官方数据接口到可视化复盘，再到中文自然语言问数的一体化课程项目。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04067-D478-40D2-BC6D-5DFD6AC9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200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5490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7DD6E-D784-4EA6-8154-43319DBF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CF9AA-D9FE-4271-988A-2AD4D268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rPr>
              <a:t>核心页面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0794E-2EF8-46FD-A613-640E9470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91000"/>
            <a:ext cx="1200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5490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3927E3-D2EC-4A26-9E24-B673076F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434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19980-5ECB-4878-AE52-F45086BF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625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rPr>
              <a:t>NBA 接口族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708D6-44A3-4FA2-AC5C-4EE81252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91000"/>
            <a:ext cx="1200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5490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70AE13-65A7-4147-BD87-7F3E0C72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434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07A788-96BA-4CDD-8690-9E01017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625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rPr>
              <a:t>数据文件层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8CDA79-9140-4772-8BFC-ADB3C01F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91000"/>
            <a:ext cx="1200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5490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11EA79-74A4-41B8-8F41-F73ECB66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434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2C7A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2C7A9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2E03DA-A303-4108-9440-2FE7ED16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625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rPr>
              <a:t>中文问数助手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E476B8-8101-480B-A676-06E8C9B9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汇报人：吕品正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38A10D-AB4C-4B5D-ACAB-4A736FF6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810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课程项目展示</a:t>
            </a:r>
          </a:p>
        </p:txBody>
      </p:sp>
    </p:spTree>
    <p:extLst>
      <p:ext uri="{BB962C8B-B14F-4D97-AF65-F5344CB8AC3E}">
        <p14:creationId xmlns:p14="http://schemas.microsoft.com/office/powerpoint/2010/main" val="11047959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67183-8BCA-4541-81EC-A70E6D2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67AE6-69B8-463F-9927-2AC5D1C3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20296-BAFC-443E-8B60-FA68F144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7A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C7A9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BD559-2B9D-4EA3-B24C-94B66E40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三层链路把 NBA 官方数据转成可交互分析。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92246-F912-4683-BCF0-ACA62669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048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21A2D"/>
          </a:solidFill>
          <a:ln xmlns:a="http://schemas.openxmlformats.org/drawingml/2006/main" w="9525">
            <a:solidFill>
              <a:srgbClr val="31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F8550-14CC-43CD-A583-7A02FC3B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C49A3-E069-4500-AA42-DBFF08D0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05025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前端展示层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55BF3-2AC0-45A8-8135-788FB58C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66975"/>
            <a:ext cx="2724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React + TypeScript + Vite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8 个核心页面：总览、比赛、单场复盘、球员、球队、投篮、数据中心、智能问数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React SVG / CSS 图表：雷达图、投篮图、热区图、比分走势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B7160-CFFE-445D-ADD0-768BB409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45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03ACB-AA39-4116-A6C4-8547041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3048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21A2D"/>
          </a:solidFill>
          <a:ln xmlns:a="http://schemas.openxmlformats.org/drawingml/2006/main" w="9525">
            <a:solidFill>
              <a:srgbClr val="314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4A7A3-B3AF-4BAF-A76D-CA6B00FE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47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125FC-1106-468C-9966-FDCFC37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05025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在线后端层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CC7E4-A99B-4BD0-8ED0-76042A84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66975"/>
            <a:ext cx="2724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FastAPI 在线服务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接口模块：比赛、球员、球队、投篮、数据中心、AI 问数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Service 层封装查询与业务逻辑；Analytics 层计算走势、关键时刻、热区、高级指标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2399D-A056-4D51-AB87-B362FB9F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45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C9878-646C-4959-9F64-3977FCA6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3048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21A2D"/>
          </a:solidFill>
          <a:ln xmlns:a="http://schemas.openxmlformats.org/drawingml/2006/main" w="9525">
            <a:solidFill>
              <a:srgbClr val="31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7B592-1265-435F-A26D-74CF7765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47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37046-6135-402F-B0A2-68ADCB4D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05025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数据处理层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AC567-0EC8-4542-B615-A9DC6D9A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66975"/>
            <a:ext cx="2724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Python + pandas + nba_api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拉取比赛、球员、球队、投篮和回合数据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生成 raw / processed / cache 三层数据文件，兼顾溯源、展示与性能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EE57F-AD81-4483-94A2-EA21B4B1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10200"/>
            <a:ext cx="1695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2A6F4-07B4-426C-933F-DC53B23F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05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页面路由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927C6-901A-4640-A60D-3F783E1F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054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React Router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15697-12BC-4243-BB56-9E1149DE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410200"/>
            <a:ext cx="1695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96B90-5FE8-4CA1-9763-2C748CD2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05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AD6C0-58F8-4FA3-83C7-5D04461C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054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FastAPI Router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B8433E-17F3-4FCA-8ACA-F0BB335A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10200"/>
            <a:ext cx="1695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2B1E24-702A-4D00-A9C3-AF009572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05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分析计算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9320B2-A228-41CA-B37B-6C0B8438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054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pandas Analytics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85CA30-A848-4EF7-A12C-F6038EE2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410200"/>
            <a:ext cx="1695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2F488-1716-424F-AE5A-D08E1A34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05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官方数据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231CC4-4FE9-47E4-BB67-5F2637C1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054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NBA.com endpoints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16A69-1A44-43A0-A625-3535F762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4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88FFD9-DE86-4F44-8366-B7C5CDEE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Hoop Insight · NBA 篮球数据分析与智能问数系统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D1E914-FAD5-458A-BE8A-24EDBF03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85940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46366-19BF-4955-A222-520AA440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8B18C-80D5-40E9-B27C-9B8EE077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15018-A434-4093-964E-2E6AF23B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7A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C7A9"/>
                </a:solidFill>
                <a:latin typeface="Aptos"/>
                <a:ea typeface="Aptos"/>
                <a:cs typeface="Aptos"/>
              </a:rPr>
              <a:t>NBA OFFICIAL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A3C3A-F490-4518-A1F9-7A55773E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nba_api 是比赛、球员、球队、投篮和回合数据的统一入口。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573A3-E8C9-4B9D-BF8A-35B95179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3238500" cy="1581150"/>
          </a:xfrm>
          <a:prstGeom xmlns:a="http://schemas.openxmlformats.org/drawingml/2006/main" prst="roundRect">
            <a:avLst>
              <a:gd name="adj" fmla="val 4819"/>
            </a:avLst>
          </a:prstGeom>
          <a:gradFill xmlns:a="http://schemas.openxmlformats.org/drawingml/2006/main">
            <a:gsLst>
              <a:gs pos="0">
                <a:srgbClr val="17213A"/>
              </a:gs>
              <a:gs pos="100000">
                <a:srgbClr val="0F766E"/>
              </a:gs>
            </a:gsLst>
            <a:lin ang="8100000"/>
          </a:gradFill>
          <a:ln xmlns:a="http://schemas.openxmlformats.org/drawingml/2006/main" w="19050">
            <a:solidFill>
              <a:srgbClr val="22C7A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C55F8-D808-4628-B3B6-FA517D1C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47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nba_api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381C2-A62C-4E7D-A8B4-7991D8F1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9087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6F0E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6F0E4"/>
                </a:solidFill>
                <a:latin typeface="PingFang SC"/>
                <a:ea typeface="PingFang SC"/>
                <a:cs typeface="PingFang SC"/>
              </a:rPr>
              <a:t>Python API Client</a:t>
            </a:r>
          </a:p>
          <a:p xmlns:a="http://schemas.openxmlformats.org/drawingml/2006/main">
            <a:pPr algn="ctr">
              <a:defRPr sz="1350" b="0">
                <a:solidFill>
                  <a:srgbClr val="F6F0E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6F0E4"/>
                </a:solidFill>
                <a:latin typeface="PingFang SC"/>
                <a:ea typeface="PingFang SC"/>
                <a:cs typeface="PingFang SC"/>
              </a:rPr>
              <a:t>访问 NBA.com 官方数据接口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2EBD3-C0E4-41FF-9359-DCA53F32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17E44-0252-44E5-BD25-94B6452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LeagueGameLog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B86DF-E793-46F6-8BE5-D34A5365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获取赛季比赛日志；支持常规赛 / 季后赛记录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7222A-3664-4550-8EEA-CE4DF9F6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22C7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1C0A9-7B0F-42B6-91B2-1E039246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LeagueDashPlayerStats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B55AD-DD50-4747-9DC9-2B797D7B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2552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获取球员基础数据与高级数据，用于榜单和对比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B1731-A8C0-4097-90A1-6C1E8A60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60A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B65D9-982D-4F26-AC2F-016A56DC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LeagueDashTeamStats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86F0E-DF78-4325-85F8-CDD27E96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获取球队基础、高级、四要素、防守和对手数据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01E4C-5DF8-4532-B1F6-A7D001E6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225DA-AD4C-4689-A492-52060BF7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764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ShotChartDetail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C7099-D98E-4F33-93AB-47B7CA05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81250"/>
            <a:ext cx="2552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获取球员 / 球队投篮坐标和投篮区域数据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8A443-9D9E-4E2D-9963-07BFE669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84CC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7AAB5-B735-4C2C-950E-BC9DD966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33775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PlayByPlayV3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E428A-B92B-4491-86E6-EEF0FD15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38575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获取单场比赛逐回合事件流，用于走势和关键时刻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7E68C-84E2-408D-ABC5-35BD1732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86300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2161F-AA78-4438-86D4-025D27C1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10125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BoxScoreTraditionalV2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80FB2-DE3D-466D-9925-99487CF5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14925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获取单场球员技术统计，支撑复盘与影响力分析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A23D9-3F85-452F-AC49-5245C284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3528F9-D4C8-40A8-8A3B-C46F3945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719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F44653-9578-465C-BB45-A9886753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435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8B246D-A114-4DB3-A858-A00BE42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9E3CDD-F29D-4CB9-9FEF-06C5E932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A216AB-FB5A-4225-9A42-B52DA701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9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E2EB5-6EE5-4547-AA28-BA6BDC44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7675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接口层覆盖“赛季级统计 + 单场级事件 + 空间投篮坐标”，因此既能做榜单，也能做单场复盘和投篮区域分析。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E09DB2-D753-49F1-AE43-48664BFF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4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497FBE-4392-444C-B195-0E01DBDC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Hoop Insight · NBA 篮球数据分析与智能问数系统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8F7335-101E-4C16-B5A1-2200BACA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74868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D445E1-D362-4878-A9DE-B35B6DBB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B7A5F-03DA-4E1A-A6E0-9AFD2A1B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02088-E33D-4564-8436-93918F3B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F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7F72"/>
                </a:solidFill>
                <a:latin typeface="Aptos"/>
                <a:ea typeface="Aptos"/>
                <a:cs typeface="Aptos"/>
              </a:rPr>
              <a:t>LOCAL DATA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17D71-C85C-4E94-B3B4-2A748061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raw / processed / cache 分离，让数据可追溯、可展示、可复用。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B5783-F691-4C5A-9C17-019F4335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3000375" cy="314325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C9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76A0E-3A5B-4AE5-955D-B083A0A5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8C3FC-1AEB-4E69-9DBD-84BEC735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0275"/>
            <a:ext cx="2676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data/raw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BFD3D-82F0-46F3-B4B8-0D35BFD4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62225"/>
            <a:ext cx="2676525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rPr>
              <a:t>保存 NBA 接口返回的原始数据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rPr>
              <a:t>用途：保留最初来源，方便检查字段、重新处理和对比接口变更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rPr>
              <a:t>示例：LeagueGameLog、ShotChartDetail、PlayByPlayV3 原始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9C40A-85CD-49D3-A043-4FE54262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47875"/>
            <a:ext cx="3000375" cy="314325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C13F2-E613-4038-9405-BE5CD565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47875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8315A-0154-4871-9D0C-9CFEBBAA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00275"/>
            <a:ext cx="2676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data/processed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965FE-5BD0-40B6-829A-4FB87028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62225"/>
            <a:ext cx="2676525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rPr>
              <a:t>保存清洗后的演示数据和页面可读数据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rPr>
              <a:t>用途：供前端展示、后端分析、demo 模式稳定运行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rPr>
              <a:t>示例：games、players、teams、shots、game_flow、box_scores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F484F-B279-4889-9E54-639141A9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3000375" cy="314325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4DC1C-9B77-46E9-8BF0-D1728EE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C28C5-5330-47F6-86D8-591C12DF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0275"/>
            <a:ext cx="2676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0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1020"/>
                </a:solidFill>
                <a:latin typeface="PingFang SC"/>
                <a:ea typeface="PingFang SC"/>
                <a:cs typeface="PingFang SC"/>
              </a:rPr>
              <a:t>data/cache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A9EBC-7362-45C9-B8F7-60EF9E3F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62225"/>
            <a:ext cx="2676525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rPr>
              <a:t>缓存 API 响应和本地查询结果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rPr>
              <a:t>用途：减少重复请求、提升运行效率、避免频繁访问 NBA 官方接口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5348"/>
                </a:solidFill>
                <a:latin typeface="PingFang SC"/>
                <a:ea typeface="PingFang SC"/>
                <a:cs typeface="PingFang SC"/>
              </a:rPr>
              <a:t>缓存过期后可自动重新拉取最新数据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49D82-07D0-4086-84D0-CD98615F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768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A5A0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A5A08"/>
                </a:solidFill>
                <a:latin typeface="PingFang SC"/>
                <a:ea typeface="PingFang SC"/>
                <a:cs typeface="PingFang SC"/>
              </a:rPr>
              <a:t>接口响应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3E3CD-DDA8-4770-BB12-9516B1A9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768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76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66B"/>
                </a:solidFill>
                <a:latin typeface="PingFang SC"/>
                <a:ea typeface="PingFang SC"/>
                <a:cs typeface="PingFang SC"/>
              </a:rPr>
              <a:t>清洗聚合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5D0A8-F09C-4653-86C9-6813AA47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768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1C1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91C1C"/>
                </a:solidFill>
                <a:latin typeface="PingFang SC"/>
                <a:ea typeface="PingFang SC"/>
                <a:cs typeface="PingFang SC"/>
              </a:rPr>
              <a:t>请求加速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731B5-A006-4C8D-847C-E4B21026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626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EE12F-E48C-45B4-BC4A-84AD4DE0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626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9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0794D-64F2-4946-B84B-DD472C25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C305B-9640-401C-BCDF-3CB6443F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5F4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5F4A"/>
                </a:solidFill>
                <a:latin typeface="PingFang SC"/>
                <a:ea typeface="PingFang SC"/>
                <a:cs typeface="PingFang SC"/>
              </a:rPr>
              <a:t>Hoop Insight · NBA 篮球数据分析与智能问数系统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40F4A-55CC-46FE-81AC-4854F48E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5F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5F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00627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970CE1-CF5D-4161-96C1-87A53311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D41C5-9B25-4C5F-A568-1DA3C03B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485A7-A105-4367-A17F-6C34F43A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7A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C7A9"/>
                </a:solidFill>
                <a:latin typeface="Aptos"/>
                <a:ea typeface="Aptos"/>
                <a:cs typeface="Aptos"/>
              </a:rPr>
              <a:t>PROJECT HIGHLIGHTS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4B700-FE96-4DFC-86F7-0319CF50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三个能力把篮球数据从“表格”推进到“洞察”。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C49AB-0D29-47BC-9586-9BBBB150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57550" cy="37147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E4780-EF38-4584-8BCB-2028803F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01 · SHOT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EB559-E555-4A29-82A6-F5A73B1B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投篮空间可视化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06B18-AEF9-4B25-B979-D378BC97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108835" cy="1796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27515-56CE-4CCF-976E-89ACF61C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593" y="2933700"/>
            <a:ext cx="781050" cy="6092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09E7D-A717-4D49-97C3-1C37C05C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55" y="3324225"/>
            <a:ext cx="390525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CD754-9BB6-4905-9299-2CE0B61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339" y="3183636"/>
            <a:ext cx="265557" cy="312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01549-9495-41A1-9EB7-70B27608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3621024"/>
            <a:ext cx="609219" cy="609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D5CD5-159E-4FE8-89A5-29CB289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78" y="3199257"/>
            <a:ext cx="1546479" cy="1546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4D01E-F338-4FCE-9F66-15907D0C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AB20E-0E75-4AAB-8FC5-4D7152E9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71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538F1-C8AA-4097-96A3-E9869B4B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9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4A687-6FED-4AFB-96B0-B13BE9EE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10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58847-A804-460E-8843-A943B956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36BB5-74FB-4702-BC46-F902C15E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3B913-2C51-4203-8CDA-5D5E1EF6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0ECD3-FBC2-4B8D-88F6-6F65A66B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散点图展示出手位置；热区图和区域效率统计解释球员或球队的出手选择与得分效率。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94BBF-7BB5-4C95-AE39-F51264D4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09750"/>
            <a:ext cx="3257550" cy="37147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7D491-9516-41D4-9871-D03B22B8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193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7A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7A9"/>
                </a:solidFill>
                <a:latin typeface="Aptos"/>
                <a:ea typeface="Aptos"/>
                <a:cs typeface="Aptos"/>
              </a:rPr>
              <a:t>02 · ASK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327C7-4D51-408C-BB33-19A803CE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智能问数助手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693C8-09DA-4CF9-8A15-29CDF1D0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67050"/>
            <a:ext cx="2476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F766E">
              <a:alpha val="33333"/>
            </a:srgbClr>
          </a:solidFill>
          <a:ln xmlns:a="http://schemas.openxmlformats.org/drawingml/2006/main" w="14288">
            <a:solidFill>
              <a:srgbClr val="22C7A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B8D95-17C3-49D5-A588-CEF5D4B6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956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“哪支球队近期净效率最高？”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4ECEE6-53EB-4FD8-9AB0-E6A44C6A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57650"/>
            <a:ext cx="190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451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845A61-4B64-4C05-B069-FCB7587D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rPr>
              <a:t>结构化数据上下文</a:t>
            </a:r>
          </a:p>
          <a:p xmlns:a="http://schemas.openxmlformats.org/drawingml/2006/main">
            <a:pPr algn="ctr">
              <a:def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rPr>
              <a:t>+</a:t>
            </a:r>
          </a:p>
          <a:p xmlns:a="http://schemas.openxmlformats.org/drawingml/2006/main">
            <a:pPr algn="ctr">
              <a:def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6F0E4"/>
                </a:solidFill>
                <a:latin typeface="PingFang SC"/>
                <a:ea typeface="PingFang SC"/>
                <a:cs typeface="PingFang SC"/>
              </a:rPr>
              <a:t>中文分析回答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E5280F-82DC-49F8-B6C5-F6FAAB16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00625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自然语言提问，后端基于真实结构化数据组织上下文，支持比赛解读、球员比较、球队分析和报告生成。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12604-0E2D-44CD-B78C-4ABA8A6E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257550" cy="37147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FA4101-0CFD-49C3-A98F-56445CCE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03 · DATA OPS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A255DE-3876-4168-AB4B-50F77F8C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NBA API 自动化接入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038B8B-2D96-4F6D-A80E-491A3059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05150"/>
            <a:ext cx="742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C6568D-1CD2-43F6-926A-1E41936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194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请求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33D320-4144-4B4E-A4FA-1FC665F3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105150"/>
            <a:ext cx="742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3335">
            <a:solidFill>
              <a:srgbClr val="22C7A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CCDAC2-1C7D-45CB-B00B-1988F561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2194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缓存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53D4DE-59AA-42EA-9285-F88755D5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248150"/>
            <a:ext cx="742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3335">
            <a:solidFill>
              <a:srgbClr val="60A5F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8D909B-7C9D-4A77-B1B9-7B75422E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3624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处理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9DA204-A4A0-4037-91DE-8F5691AF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48150"/>
            <a:ext cx="742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C9039C-C4C7-47BF-ADBD-AF405D9B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624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展示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A5F4D6-917B-4F37-86FB-728D1B3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623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3A0628-7D96-4D08-8A41-C7DDA93A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00625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按赛季、球队、球员或比赛 ID 自动请求；缓存过期后重新拉取，支持实时 / 准实时更新。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5D74DF-7671-4BBD-817F-ADDEDE6D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4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4B7FD6-CD3D-4A23-B487-FE87FB25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Hoop Insight · NBA 篮球数据分析与智能问数系统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382796-4121-4379-A208-B20D0D5E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74681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7866D-342B-4AC3-ADB2-D23488AF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DFEBB-FE34-4A88-A020-19934C47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020"/>
              </a:gs>
              <a:gs pos="50000">
                <a:srgbClr val="101827"/>
              </a:gs>
              <a:gs pos="100000">
                <a:srgbClr val="1F2937"/>
              </a:gs>
            </a:gsLst>
            <a:lin ang="87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F278D-9661-4CB8-9355-5B7F9908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857250"/>
            <a:ext cx="3214688" cy="2738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2C7A9">
                <a:alpha val="2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4B176-A655-4E6A-9AF0-26734639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906" y="857250"/>
            <a:ext cx="1190625" cy="928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2C7A9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EDC20-6E84-4272-AC15-F292027C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1452563"/>
            <a:ext cx="595313" cy="5953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2C7A9">
                <a:alpha val="2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00D64-8F8C-4C9D-A98F-93D50635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1238250"/>
            <a:ext cx="4048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A9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1CFE8-A3D6-4AD1-ADFC-1D683601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05000"/>
            <a:ext cx="928688" cy="928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2C7A9">
                <a:alpha val="2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A54AF-59A8-4BF1-9620-7F6E6B80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62063"/>
            <a:ext cx="2357438" cy="2357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2C7A9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CC5F2-D477-4EC1-B77F-343E8F65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96A36-C046-42AC-9D58-571A7286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05420-C28B-4EB2-A947-6EF5ADE7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95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FDFE6-3D34-46D7-B29D-FD045BC3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95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E1B86-9625-473B-BDA0-68F89BC0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95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186AD-99D8-44AF-B4C8-BED914D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95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61DAA-BFF2-4E1C-B0CA-CD958D31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80C15-AD78-4F59-B43C-E1AE0352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95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0B8D1-501F-401F-ADBF-6BD00A95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95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996ED-5A40-4ADD-99BD-16B54E5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95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367AA-CB6A-40AB-ADBD-2CD853B5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95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E13AF-4709-40D1-A0BD-F86D1AC1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95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574B6-26DA-4887-8AE9-33E9D9AE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95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16F83-791A-4E58-AEF0-CDCECE8A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95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3C468-3826-4C59-9898-940129F7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95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129C8-B4D8-4A04-8BC0-ED6BA42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95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9BBC8-BFD4-4BC6-A06B-263C21E8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95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97AC96-024B-40F5-B00F-226554EF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95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11B978-9888-4E42-BA4C-FA9C47FD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7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5D451F-2BC0-4B87-AA73-0D015286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297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C7A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2C7A9"/>
                </a:solidFill>
                <a:latin typeface="PingFang SC"/>
                <a:ea typeface="PingFang SC"/>
                <a:cs typeface="PingFang SC"/>
              </a:rPr>
              <a:t>THANK YOU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79046-B6A6-4DB5-B530-7D00E867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谢谢观看！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5475F-70F8-4DAA-AF21-A2B45ECB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6F0E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6F0E4"/>
                </a:solidFill>
                <a:latin typeface="PingFang SC"/>
                <a:ea typeface="PingFang SC"/>
                <a:cs typeface="PingFang SC"/>
              </a:rPr>
              <a:t>欢迎老师和同学批评指正。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E796CC-58AA-4BBC-A7A6-DAA0E38F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90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>
              <a:alpha val="4314"/>
            </a:srgbClr>
          </a:solidFill>
          <a:ln xmlns:a="http://schemas.openxmlformats.org/drawingml/2006/main" w="9525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28571C-1598-4E71-951A-F0DADC26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529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Hoop Insight 将 NBA 官方数据接口、本地数据处理、FastAPI 在线服务、React 可视化和 AI 问数串成一条完整的数据分析链路。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BF19FF-9876-438B-B79C-D2DE5165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143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5FA7BE-E9D8-4C52-93D0-3CDA12F2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数据接入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90E24D-3779-4121-8921-C5E4AB7F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257800"/>
            <a:ext cx="1143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11430">
            <a:solidFill>
              <a:srgbClr val="22C7A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E776D0-39C1-4EDC-93D4-706A3493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3435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分析计算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EEF723-1201-4961-BFD9-7A55017D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57800"/>
            <a:ext cx="1143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11430">
            <a:solidFill>
              <a:srgbClr val="60A5F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66336B-24C7-4624-9AAB-0D6D70F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435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可视化展示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B0BE49-C883-499B-8EBD-34E53D2C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257800"/>
            <a:ext cx="1143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CB6DC9-16DD-4B20-A8D8-5CA2FBF2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3435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智能问数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6415DF-064B-489A-B6CF-C943A136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吕品正</a:t>
            </a:r>
          </a:p>
        </p:txBody>
      </p:sp>
    </p:spTree>
    <p:extLst>
      <p:ext uri="{BB962C8B-B14F-4D97-AF65-F5344CB8AC3E}">
        <p14:creationId xmlns:p14="http://schemas.microsoft.com/office/powerpoint/2010/main" val="638841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2026-06-15T04:40:05.0880000Z</dcterms:created>
  <dcterms:modified xsi:type="dcterms:W3CDTF">2026-06-15T04:40:05.0880000Z</dcterms:modified>
</coreProperties>
</file>